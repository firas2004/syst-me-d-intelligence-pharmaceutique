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ctagon 1"/>
          <p:cNvSpPr/>
          <p:nvPr/>
        </p:nvSpPr>
        <p:spPr>
          <a:xfrm>
            <a:off x="0" y="0"/>
            <a:ext cx="1371600" cy="6858000"/>
          </a:xfrm>
          <a:prstGeom prst="octagon">
            <a:avLst/>
          </a:prstGeom>
          <a:solidFill>
            <a:srgbClr val="18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PHARMA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492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0272D"/>
                </a:solidFill>
              </a:rPr>
              <a:t>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697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272D"/>
                </a:solidFill>
              </a:rPr>
              <a:t>v3.0  ·  Opalia Recordati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3246120"/>
            <a:ext cx="2743200" cy="254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474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A0A0"/>
                </a:solidFill>
              </a:rPr>
              <a:t>« L'intelligence au service de la molécule.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2976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0272D"/>
                </a:solidFill>
              </a:rPr>
              <a:t>13 000+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molécules analysées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</a:rPr>
              <a:t>© 2025 Opalia Recordati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Le Problème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Qu'est-ce qui est cassé aujourd'hui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5760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⏳  Décisions Ralenties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34381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Données éparpillées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entre plusieurs sources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— aucune vue centralisée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737360"/>
            <a:ext cx="365760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🧩  Systèmes Déconnectés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194560"/>
            <a:ext cx="34381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FDA / NIH / ICH non liés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Recherche manuelle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chronophage et coûteuse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737360"/>
            <a:ext cx="365760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❓  Traçabilité Absente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7" y="2194560"/>
            <a:ext cx="34381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Données réelles vs estimées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ICH indiscernables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— risque de non-conformité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La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64592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Découvrez PHARMA-INTEL v3.0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474720" cy="128016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0A0"/>
                </a:solidFill>
              </a:rPr>
              <a:t>Données
Fragmentées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272D"/>
                </a:solidFill>
              </a:rPr>
              <a:t>►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37360"/>
            <a:ext cx="3474720" cy="1280160"/>
          </a:xfrm>
          <a:prstGeom prst="rect">
            <a:avLst/>
          </a:prstGeom>
          <a:solidFill>
            <a:srgbClr val="3D0709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272D"/>
                </a:solidFill>
              </a:rPr>
              <a:t>PHARMA-INTEL
v3.0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03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272D"/>
                </a:solidFill>
              </a:rPr>
              <a:t>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3474720" cy="128016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Décisions
Stratégiques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272D"/>
                </a:solidFill>
              </a:rPr>
              <a:t>Centralisé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272D"/>
                </a:solidFill>
              </a:rPr>
              <a:t>Tracé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272D"/>
                </a:solidFill>
              </a:rPr>
              <a:t>Actionnable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A0A0"/>
                </a:solidFill>
              </a:rPr>
              <a:t>→ Insérer ici une capture d'écran du dashboard PHARMA-INTEL v3.0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11247120" cy="237744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IA &amp; 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19456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</a:rPr>
              <a:t>L'innovation, c'est la valeur créée — pas la technologie utilisée.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A0A0"/>
                </a:solidFill>
              </a:rPr>
              <a:t>Sources Brutes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34381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FDA / NIH</a:t>
            </a:r>
            <a:br/>
            <a:r>
              <a:t>(données certifiées)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Normes ICH</a:t>
            </a:r>
            <a:br/>
            <a:r>
              <a:t>(estimations)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272D"/>
                </a:solidFill>
              </a:rPr>
              <a:t>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645920"/>
            <a:ext cx="365760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7373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Moteur IA Asynchrone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103120"/>
            <a:ext cx="34381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Classification auto</a:t>
            </a:r>
            <a:br/>
            <a:r>
              <a:t>des données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13 000 entités</a:t>
            </a:r>
            <a:br/>
            <a:r>
              <a:t>ingérées en temps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272D"/>
                </a:solidFill>
              </a:rPr>
              <a:t>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1645920"/>
            <a:ext cx="365760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3" y="17373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Décisionnel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3" y="2103120"/>
            <a:ext cx="34381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✅  Données Réelles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⚡  Données Estimées 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272D"/>
                </a:solidFill>
              </a:rPr>
              <a:t>💡  Différenciateur clé : séparation automatique Réel (FDA/NIH) vs Estimé (ICH)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Impact &amp; Durabilité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56032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</a:rPr>
              <a:t>Des résultats mesurables — le critère le plus important pour le jury.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57600" cy="429768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💼  Impact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34381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Décisions accélérées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Gain de productivité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Réduction des coûts 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737360"/>
            <a:ext cx="3657600" cy="429768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🏥  Impact 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194560"/>
            <a:ext cx="34381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Meilleure qualité ttt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Time-to-Market réduit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Innovation R&amp;D soutenue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75" y="1737360"/>
            <a:ext cx="3657600" cy="429768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🛡️  Impact Conformité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3" y="2194560"/>
            <a:ext cx="34381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Traçabilité totale BPF/ICH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Audit trail automatisé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Zéro risque non-conformité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0A0"/>
                </a:solidFill>
              </a:rPr>
              <a:t>→ Quantifiez si possible : ex. "40% de temps économisé sur l'analyse des rapports"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Modèle Économique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56032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</a:rPr>
              <a:t>Comment la solution crée et maintient de la valeur dans le temps.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5760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🔻  RÉDUIRE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34381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Coûts opérationnels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Revue manuelle éliminée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Recherche automatisée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737360"/>
            <a:ext cx="365760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🔼  ACCÉLÉRER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194560"/>
            <a:ext cx="34381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Prise de décision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Time-to-Market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Cycles d'innovation R&amp;D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75" y="1737360"/>
            <a:ext cx="365760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18288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72D"/>
                </a:solidFill>
              </a:rPr>
              <a:t>🛡️  PROTÉGER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3" y="2194560"/>
            <a:ext cx="34381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Conformité BPF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Audits ICH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Risques réglementaires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Feuille de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19456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</a:rPr>
              <a:t>De la conception au déploiement — un plan concret.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49039"/>
            <a:ext cx="1124712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3547872"/>
            <a:ext cx="402336" cy="402336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8A745"/>
                </a:solidFill>
              </a:rPr>
              <a:t>✅  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Architecture
&amp; Design UX/UI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8A745"/>
                </a:solidFill>
              </a:rPr>
              <a:t>TERMINÉ</a:t>
            </a:r>
          </a:p>
        </p:txBody>
      </p:sp>
      <p:sp>
        <p:nvSpPr>
          <p:cNvPr id="10" name="Oval 9"/>
          <p:cNvSpPr/>
          <p:nvPr/>
        </p:nvSpPr>
        <p:spPr>
          <a:xfrm>
            <a:off x="4553712" y="3547872"/>
            <a:ext cx="402336" cy="402336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828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272D"/>
                </a:solidFill>
              </a:rPr>
              <a:t>🔄  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Tests de charge
&amp; Audit Sécurité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72D"/>
                </a:solidFill>
              </a:rPr>
              <a:t>EN COURS</a:t>
            </a:r>
          </a:p>
        </p:txBody>
      </p:sp>
      <p:sp>
        <p:nvSpPr>
          <p:cNvPr id="14" name="Oval 13"/>
          <p:cNvSpPr/>
          <p:nvPr/>
        </p:nvSpPr>
        <p:spPr>
          <a:xfrm>
            <a:off x="7507224" y="3547872"/>
            <a:ext cx="402336" cy="402336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828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A0A0"/>
                </a:solidFill>
              </a:rPr>
              <a:t>⏳  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Déploiement
pilote interne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0A0A0"/>
                </a:solidFill>
              </a:rPr>
              <a:t>T3 2025</a:t>
            </a:r>
          </a:p>
        </p:txBody>
      </p:sp>
      <p:sp>
        <p:nvSpPr>
          <p:cNvPr id="18" name="Oval 17"/>
          <p:cNvSpPr/>
          <p:nvPr/>
        </p:nvSpPr>
        <p:spPr>
          <a:xfrm>
            <a:off x="10460736" y="3547872"/>
            <a:ext cx="402336" cy="402336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828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A0A0"/>
                </a:solidFill>
              </a:rPr>
              <a:t>⏳  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Mise à l'échelle
&amp; Export certifié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0A0A0"/>
                </a:solidFill>
              </a:rPr>
              <a:t>T4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L'Équipe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280160" cy="381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</a:rPr>
              <a:t>Les architectes du projet — des expertises complémentaires au service de l'innovation.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283464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Membre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337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72D"/>
                </a:solidFill>
              </a:rPr>
              <a:t>Architecture Technique
&amp; Full-Stack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828800"/>
            <a:ext cx="283464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Membre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37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72D"/>
                </a:solidFill>
              </a:rPr>
              <a:t>Design UX/UI
&amp; Charte Opalia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83464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Membre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37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72D"/>
                </a:solidFill>
              </a:rPr>
              <a:t>Data &amp; Conformité ICH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828800"/>
            <a:ext cx="2834640" cy="4114800"/>
          </a:xfrm>
          <a:prstGeom prst="rect">
            <a:avLst/>
          </a:prstGeom>
          <a:solidFill>
            <a:srgbClr val="161B22"/>
          </a:solidFill>
          <a:ln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Membre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37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72D"/>
                </a:solidFill>
              </a:rPr>
              <a:t>Expertise Pharmaco
&amp; Domaine Métier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0A0"/>
                </a:solidFill>
              </a:rPr>
              <a:t>→ Remplacez les icônes 👤 par vos photos et les noms par les noms réels de l'équipe.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114800"/>
            <a:ext cx="4572000" cy="4572000"/>
          </a:xfrm>
          <a:prstGeom prst="ellipse">
            <a:avLst/>
          </a:prstGeom>
          <a:solidFill>
            <a:srgbClr val="30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Façonnons l'avenir d'Opalia Recordati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103120"/>
            <a:ext cx="3931920" cy="2540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0A0A0"/>
                </a:solidFill>
              </a:rPr>
              <a:t>En transformant la donnée pharmaceutique brute en intelligence décisionnelle,
PHARMA-INTEL v3.0 accélère l'innovation, renforce la conformité,
et façonne l'avenir de la santé propulsée par l'IA.
La plateforme est prête. La valeur est démontrée.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389120"/>
            <a:ext cx="4846320" cy="77724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40740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ACCÉDER À LA PLATEFORME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0A0A0"/>
                </a:solidFill>
              </a:rPr>
              <a:t>« L'intelligence au service de la molécule.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</a:rPr>
              <a:t>© 2025 Opalia Recordati  —  Tous droits réservés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